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6"/>
  </p:notesMasterIdLst>
  <p:sldIdLst>
    <p:sldId id="268" r:id="rId2"/>
    <p:sldId id="267" r:id="rId3"/>
    <p:sldId id="280" r:id="rId4"/>
    <p:sldId id="273" r:id="rId5"/>
    <p:sldId id="274" r:id="rId6"/>
    <p:sldId id="283" r:id="rId7"/>
    <p:sldId id="282" r:id="rId8"/>
    <p:sldId id="281" r:id="rId9"/>
    <p:sldId id="287" r:id="rId10"/>
    <p:sldId id="284" r:id="rId11"/>
    <p:sldId id="288" r:id="rId12"/>
    <p:sldId id="278" r:id="rId13"/>
    <p:sldId id="279" r:id="rId14"/>
    <p:sldId id="265"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B1DEAA-35D0-4C9F-AA8F-11500332E6F4}" v="25" dt="2025-11-03T06:34:17.0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12" autoAdjust="0"/>
    <p:restoredTop sz="94660"/>
  </p:normalViewPr>
  <p:slideViewPr>
    <p:cSldViewPr>
      <p:cViewPr varScale="1">
        <p:scale>
          <a:sx n="70" d="100"/>
          <a:sy n="70" d="100"/>
        </p:scale>
        <p:origin x="1196"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chi Jasuja" userId="d0c8ea40fb1299ac" providerId="LiveId" clId="{7B9DCE37-A35A-476F-AC8C-B5A0B5BE3653}"/>
    <pc:docChg chg="delSld modSld">
      <pc:chgData name="Prachi Jasuja" userId="d0c8ea40fb1299ac" providerId="LiveId" clId="{7B9DCE37-A35A-476F-AC8C-B5A0B5BE3653}" dt="2025-11-03T19:07:47.519" v="12" actId="2696"/>
      <pc:docMkLst>
        <pc:docMk/>
      </pc:docMkLst>
      <pc:sldChg chg="modSp mod">
        <pc:chgData name="Prachi Jasuja" userId="d0c8ea40fb1299ac" providerId="LiveId" clId="{7B9DCE37-A35A-476F-AC8C-B5A0B5BE3653}" dt="2025-11-03T18:42:05.805" v="11" actId="2711"/>
        <pc:sldMkLst>
          <pc:docMk/>
          <pc:sldMk cId="0" sldId="278"/>
        </pc:sldMkLst>
        <pc:spChg chg="mod">
          <ac:chgData name="Prachi Jasuja" userId="d0c8ea40fb1299ac" providerId="LiveId" clId="{7B9DCE37-A35A-476F-AC8C-B5A0B5BE3653}" dt="2025-11-03T18:42:05.805" v="11" actId="2711"/>
          <ac:spMkLst>
            <pc:docMk/>
            <pc:sldMk cId="0" sldId="278"/>
            <ac:spMk id="6" creationId="{04A95F29-7D74-45C7-9FC1-5FECAE59ECB1}"/>
          </ac:spMkLst>
        </pc:spChg>
      </pc:sldChg>
      <pc:sldChg chg="addSp mod">
        <pc:chgData name="Prachi Jasuja" userId="d0c8ea40fb1299ac" providerId="LiveId" clId="{7B9DCE37-A35A-476F-AC8C-B5A0B5BE3653}" dt="2025-11-03T18:34:50.752" v="0" actId="22"/>
        <pc:sldMkLst>
          <pc:docMk/>
          <pc:sldMk cId="1582093958" sldId="281"/>
        </pc:sldMkLst>
        <pc:picChg chg="add">
          <ac:chgData name="Prachi Jasuja" userId="d0c8ea40fb1299ac" providerId="LiveId" clId="{7B9DCE37-A35A-476F-AC8C-B5A0B5BE3653}" dt="2025-11-03T18:34:50.752" v="0" actId="22"/>
          <ac:picMkLst>
            <pc:docMk/>
            <pc:sldMk cId="1582093958" sldId="281"/>
            <ac:picMk id="4" creationId="{4299451D-1EC3-7957-E8BE-B757A29197CD}"/>
          </ac:picMkLst>
        </pc:picChg>
      </pc:sldChg>
      <pc:sldChg chg="addSp modSp mod">
        <pc:chgData name="Prachi Jasuja" userId="d0c8ea40fb1299ac" providerId="LiveId" clId="{7B9DCE37-A35A-476F-AC8C-B5A0B5BE3653}" dt="2025-11-03T18:35:48.595" v="4" actId="14100"/>
        <pc:sldMkLst>
          <pc:docMk/>
          <pc:sldMk cId="3138409978" sldId="284"/>
        </pc:sldMkLst>
        <pc:picChg chg="add mod">
          <ac:chgData name="Prachi Jasuja" userId="d0c8ea40fb1299ac" providerId="LiveId" clId="{7B9DCE37-A35A-476F-AC8C-B5A0B5BE3653}" dt="2025-11-03T18:35:48.595" v="4" actId="14100"/>
          <ac:picMkLst>
            <pc:docMk/>
            <pc:sldMk cId="3138409978" sldId="284"/>
            <ac:picMk id="4" creationId="{FB10A7A4-E66A-1CE9-C578-A32C506E6E56}"/>
          </ac:picMkLst>
        </pc:picChg>
      </pc:sldChg>
      <pc:sldChg chg="del">
        <pc:chgData name="Prachi Jasuja" userId="d0c8ea40fb1299ac" providerId="LiveId" clId="{7B9DCE37-A35A-476F-AC8C-B5A0B5BE3653}" dt="2025-11-03T18:36:02.976" v="5" actId="2696"/>
        <pc:sldMkLst>
          <pc:docMk/>
          <pc:sldMk cId="2400938882" sldId="285"/>
        </pc:sldMkLst>
      </pc:sldChg>
      <pc:sldChg chg="del">
        <pc:chgData name="Prachi Jasuja" userId="d0c8ea40fb1299ac" providerId="LiveId" clId="{7B9DCE37-A35A-476F-AC8C-B5A0B5BE3653}" dt="2025-11-03T18:36:07.398" v="6" actId="2696"/>
        <pc:sldMkLst>
          <pc:docMk/>
          <pc:sldMk cId="2762222013" sldId="286"/>
        </pc:sldMkLst>
      </pc:sldChg>
      <pc:sldChg chg="addSp modSp mod">
        <pc:chgData name="Prachi Jasuja" userId="d0c8ea40fb1299ac" providerId="LiveId" clId="{7B9DCE37-A35A-476F-AC8C-B5A0B5BE3653}" dt="2025-11-03T18:35:16.535" v="2" actId="14100"/>
        <pc:sldMkLst>
          <pc:docMk/>
          <pc:sldMk cId="1878058711" sldId="287"/>
        </pc:sldMkLst>
        <pc:picChg chg="add mod">
          <ac:chgData name="Prachi Jasuja" userId="d0c8ea40fb1299ac" providerId="LiveId" clId="{7B9DCE37-A35A-476F-AC8C-B5A0B5BE3653}" dt="2025-11-03T18:35:16.535" v="2" actId="14100"/>
          <ac:picMkLst>
            <pc:docMk/>
            <pc:sldMk cId="1878058711" sldId="287"/>
            <ac:picMk id="4" creationId="{75AF8F9B-224C-07AB-669A-BB5F0DD5FAC5}"/>
          </ac:picMkLst>
        </pc:picChg>
      </pc:sldChg>
      <pc:sldChg chg="addSp modSp mod">
        <pc:chgData name="Prachi Jasuja" userId="d0c8ea40fb1299ac" providerId="LiveId" clId="{7B9DCE37-A35A-476F-AC8C-B5A0B5BE3653}" dt="2025-11-03T18:37:06.630" v="9" actId="14100"/>
        <pc:sldMkLst>
          <pc:docMk/>
          <pc:sldMk cId="867528548" sldId="288"/>
        </pc:sldMkLst>
        <pc:picChg chg="add mod">
          <ac:chgData name="Prachi Jasuja" userId="d0c8ea40fb1299ac" providerId="LiveId" clId="{7B9DCE37-A35A-476F-AC8C-B5A0B5BE3653}" dt="2025-11-03T18:37:06.630" v="9" actId="14100"/>
          <ac:picMkLst>
            <pc:docMk/>
            <pc:sldMk cId="867528548" sldId="288"/>
            <ac:picMk id="4" creationId="{1390054D-025B-E801-B614-07C18BE228A5}"/>
          </ac:picMkLst>
        </pc:picChg>
      </pc:sldChg>
      <pc:sldChg chg="del">
        <pc:chgData name="Prachi Jasuja" userId="d0c8ea40fb1299ac" providerId="LiveId" clId="{7B9DCE37-A35A-476F-AC8C-B5A0B5BE3653}" dt="2025-11-03T19:07:47.519" v="12" actId="2696"/>
        <pc:sldMkLst>
          <pc:docMk/>
          <pc:sldMk cId="1592047562"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5013FA-243F-47AB-841F-52D05D628C4B}" type="datetimeFigureOut">
              <a:rPr lang="en-IN" smtClean="0"/>
              <a:t>04-11-2025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EB91A2-EF73-4309-81BC-2378C40A1775}" type="slidenum">
              <a:rPr lang="en-IN" smtClean="0"/>
              <a:t>‹#›</a:t>
            </a:fld>
            <a:endParaRPr lang="en-IN"/>
          </a:p>
        </p:txBody>
      </p:sp>
    </p:spTree>
    <p:extLst>
      <p:ext uri="{BB962C8B-B14F-4D97-AF65-F5344CB8AC3E}">
        <p14:creationId xmlns:p14="http://schemas.microsoft.com/office/powerpoint/2010/main" val="2529814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5EB91A2-EF73-4309-81BC-2378C40A1775}" type="slidenum">
              <a:rPr lang="en-IN" smtClean="0"/>
              <a:t>8</a:t>
            </a:fld>
            <a:endParaRPr lang="en-IN"/>
          </a:p>
        </p:txBody>
      </p:sp>
    </p:spTree>
    <p:extLst>
      <p:ext uri="{BB962C8B-B14F-4D97-AF65-F5344CB8AC3E}">
        <p14:creationId xmlns:p14="http://schemas.microsoft.com/office/powerpoint/2010/main" val="533330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lvl1pPr>
              <a:defRPr sz="3200" b="1">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5BB0C6-8FC1-47C0-B737-D54E21B5B868}" type="datetimeFigureOut">
              <a:rPr lang="en-US" smtClean="0"/>
              <a:pPr/>
              <a:t>11/4/2025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a:grpSpLocks/>
          </p:cNvGrpSpPr>
          <p:nvPr/>
        </p:nvGrpSpPr>
        <p:grpSpPr bwMode="auto">
          <a:xfrm>
            <a:off x="6146800" y="0"/>
            <a:ext cx="2997200" cy="876300"/>
            <a:chOff x="6096000" y="3924300"/>
            <a:chExt cx="2997200" cy="876300"/>
          </a:xfrm>
        </p:grpSpPr>
        <p:sp>
          <p:nvSpPr>
            <p:cNvPr id="6"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9" name="Picture 15" descr="logo.jpg"/>
          <p:cNvPicPr>
            <a:picLocks noChangeAspect="1"/>
          </p:cNvPicPr>
          <p:nvPr/>
        </p:nvPicPr>
        <p:blipFill>
          <a:blip r:embed="rId3" cstate="print"/>
          <a:srcRect/>
          <a:stretch>
            <a:fillRect/>
          </a:stretch>
        </p:blipFill>
        <p:spPr bwMode="auto">
          <a:xfrm>
            <a:off x="6553200" y="228600"/>
            <a:ext cx="1920875" cy="609600"/>
          </a:xfrm>
          <a:prstGeom prst="rect">
            <a:avLst/>
          </a:prstGeom>
          <a:noFill/>
          <a:ln w="9525">
            <a:noFill/>
            <a:miter lim="800000"/>
            <a:headEnd/>
            <a:tailEnd/>
          </a:ln>
        </p:spPr>
      </p:pic>
      <p:sp>
        <p:nvSpPr>
          <p:cNvPr id="2" name="Title 1"/>
          <p:cNvSpPr>
            <a:spLocks noGrp="1"/>
          </p:cNvSpPr>
          <p:nvPr>
            <p:ph type="title"/>
          </p:nvPr>
        </p:nvSpPr>
        <p:spPr/>
        <p:txBody>
          <a:bodyPr/>
          <a:lstStyle>
            <a:lvl1pPr>
              <a:defRPr sz="320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200">
                <a:latin typeface="Times New Roman" panose="02020603050405020304" pitchFamily="18" charset="0"/>
                <a:cs typeface="Times New Roman" panose="02020603050405020304" pitchFamily="18" charset="0"/>
              </a:defRPr>
            </a:lvl1pPr>
            <a:lvl2pPr>
              <a:defRPr sz="2200">
                <a:latin typeface="Times New Roman" panose="02020603050405020304" pitchFamily="18" charset="0"/>
                <a:cs typeface="Times New Roman" panose="02020603050405020304" pitchFamily="18" charset="0"/>
              </a:defRPr>
            </a:lvl2pPr>
            <a:lvl3pPr>
              <a:defRPr sz="2200">
                <a:latin typeface="Times New Roman" panose="02020603050405020304" pitchFamily="18" charset="0"/>
                <a:cs typeface="Times New Roman" panose="02020603050405020304" pitchFamily="18" charset="0"/>
              </a:defRPr>
            </a:lvl3pPr>
            <a:lvl4pPr>
              <a:defRPr sz="2200">
                <a:latin typeface="Times New Roman" panose="02020603050405020304" pitchFamily="18" charset="0"/>
                <a:cs typeface="Times New Roman" panose="02020603050405020304" pitchFamily="18" charset="0"/>
              </a:defRPr>
            </a:lvl4pPr>
            <a:lvl5pPr>
              <a:defRPr sz="220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3"/>
          <p:cNvSpPr>
            <a:spLocks noGrp="1"/>
          </p:cNvSpPr>
          <p:nvPr>
            <p:ph type="dt" sz="half" idx="10"/>
          </p:nvPr>
        </p:nvSpPr>
        <p:spPr/>
        <p:txBody>
          <a:bodyPr/>
          <a:lstStyle>
            <a:lvl1pPr>
              <a:defRPr/>
            </a:lvl1pPr>
          </a:lstStyle>
          <a:p>
            <a:fld id="{1D5BB0C6-8FC1-47C0-B737-D54E21B5B868}" type="datetimeFigureOut">
              <a:rPr lang="en-US" smtClean="0"/>
              <a:pPr/>
              <a:t>11/4/2025</a:t>
            </a:fld>
            <a:endParaRPr lang="en-US"/>
          </a:p>
        </p:txBody>
      </p:sp>
      <p:sp>
        <p:nvSpPr>
          <p:cNvPr id="11" name="Footer Placeholder 4"/>
          <p:cNvSpPr>
            <a:spLocks noGrp="1"/>
          </p:cNvSpPr>
          <p:nvPr>
            <p:ph type="ftr" sz="quarter" idx="11"/>
          </p:nvPr>
        </p:nvSpPr>
        <p:spPr/>
        <p:txBody>
          <a:bodyPr/>
          <a:lstStyle>
            <a:lvl1pPr>
              <a:defRPr/>
            </a:lvl1pPr>
          </a:lstStyle>
          <a:p>
            <a:endParaRPr lang="en-US"/>
          </a:p>
        </p:txBody>
      </p:sp>
      <p:sp>
        <p:nvSpPr>
          <p:cNvPr id="12"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5BB0C6-8FC1-47C0-B737-D54E21B5B868}" type="datetimeFigureOut">
              <a:rPr lang="en-US" smtClean="0"/>
              <a:pPr/>
              <a:t>11/4/2025</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8887D6-2A35-42AC-99C1-5E14D32EE4CF}" type="slidenum">
              <a:rPr lang="en-US" smtClean="0"/>
              <a:pPr/>
              <a:t>‹#›</a:t>
            </a:fld>
            <a:endParaRPr lang="en-US"/>
          </a:p>
        </p:txBody>
      </p:sp>
    </p:spTree>
  </p:cSld>
  <p:clrMapOvr>
    <a:masterClrMapping/>
  </p:clrMapOvr>
  <p:transition advTm="4000">
    <p:cut/>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b="1">
                <a:solidFill>
                  <a:srgbClr val="0070C0"/>
                </a:solidFill>
                <a:latin typeface="Times New Roman" pitchFamily="18" charset="0"/>
                <a:cs typeface="Times New Roman" pitchFamily="18" charset="0"/>
              </a:defRPr>
            </a:lvl1pPr>
          </a:lstStyle>
          <a:p>
            <a:fld id="{1D5BB0C6-8FC1-47C0-B737-D54E21B5B868}" type="datetimeFigureOut">
              <a:rPr lang="en-US" smtClean="0"/>
              <a:pPr/>
              <a:t>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b="1">
                <a:solidFill>
                  <a:srgbClr val="0070C0"/>
                </a:solidFill>
                <a:latin typeface="Times New Roman" pitchFamily="18" charset="0"/>
                <a:ea typeface="ＭＳ Ｐゴシック" charset="-128"/>
                <a:cs typeface="Times New Roman" pitchFamily="18"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0070C0"/>
                </a:solidFill>
                <a:latin typeface="Times New Roman" pitchFamily="18" charset="0"/>
                <a:cs typeface="Times New Roman" pitchFamily="18" charset="0"/>
              </a:defRPr>
            </a:lvl1pPr>
          </a:lstStyle>
          <a:p>
            <a:fld id="{0F8887D6-2A35-42AC-99C1-5E14D32EE4CF}" type="slidenum">
              <a:rPr lang="en-US" smtClean="0"/>
              <a:pPr/>
              <a:t>‹#›</a:t>
            </a:fld>
            <a:endParaRPr lang="en-US"/>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a:latin typeface="Calibri" charset="0"/>
              <a:ea typeface="ＭＳ Ｐゴシック" charset="-128"/>
            </a:endParaRPr>
          </a:p>
        </p:txBody>
      </p:sp>
      <p:pic>
        <p:nvPicPr>
          <p:cNvPr id="1035"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2"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1040" name="Picture 9" descr="LOGO.gif"/>
            <p:cNvPicPr>
              <a:picLocks noChangeAspect="1"/>
            </p:cNvPicPr>
            <p:nvPr/>
          </p:nvPicPr>
          <p:blipFill>
            <a:blip r:embed="rId5"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038" name="Picture 15" descr="logo.jpg"/>
          <p:cNvPicPr>
            <a:picLocks noChangeAspect="1"/>
          </p:cNvPicPr>
          <p:nvPr/>
        </p:nvPicPr>
        <p:blipFill>
          <a:blip r:embed="rId6" cstate="print"/>
          <a:srcRect/>
          <a:stretch>
            <a:fillRect/>
          </a:stretch>
        </p:blipFill>
        <p:spPr bwMode="auto">
          <a:xfrm>
            <a:off x="6553200" y="228600"/>
            <a:ext cx="1920875" cy="609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Lst>
  <p:transition advTm="4000">
    <p:cut/>
  </p:transition>
  <p:txStyles>
    <p:titleStyle>
      <a:lvl1pPr algn="ctr" rtl="0" eaLnBrk="1" fontAlgn="base" hangingPunct="1">
        <a:spcBef>
          <a:spcPct val="0"/>
        </a:spcBef>
        <a:spcAft>
          <a:spcPct val="0"/>
        </a:spcAft>
        <a:defRPr sz="3000" kern="1200">
          <a:solidFill>
            <a:schemeClr val="tx1"/>
          </a:solidFill>
          <a:latin typeface="+mj-lt"/>
          <a:ea typeface="MS PGothic"/>
          <a:cs typeface="MS PGothic"/>
        </a:defRPr>
      </a:lvl1pPr>
      <a:lvl2pPr algn="ctr" rtl="0" eaLnBrk="1" fontAlgn="base" hangingPunct="1">
        <a:spcBef>
          <a:spcPct val="0"/>
        </a:spcBef>
        <a:spcAft>
          <a:spcPct val="0"/>
        </a:spcAft>
        <a:defRPr sz="3000">
          <a:solidFill>
            <a:schemeClr val="tx1"/>
          </a:solidFill>
          <a:latin typeface="Calibri" charset="0"/>
          <a:ea typeface="MS PGothic"/>
          <a:cs typeface="MS PGothic"/>
        </a:defRPr>
      </a:lvl2pPr>
      <a:lvl3pPr algn="ctr" rtl="0" eaLnBrk="1" fontAlgn="base" hangingPunct="1">
        <a:spcBef>
          <a:spcPct val="0"/>
        </a:spcBef>
        <a:spcAft>
          <a:spcPct val="0"/>
        </a:spcAft>
        <a:defRPr sz="3000">
          <a:solidFill>
            <a:schemeClr val="tx1"/>
          </a:solidFill>
          <a:latin typeface="Calibri" charset="0"/>
          <a:ea typeface="MS PGothic"/>
          <a:cs typeface="MS PGothic"/>
        </a:defRPr>
      </a:lvl3pPr>
      <a:lvl4pPr algn="ctr" rtl="0" eaLnBrk="1" fontAlgn="base" hangingPunct="1">
        <a:spcBef>
          <a:spcPct val="0"/>
        </a:spcBef>
        <a:spcAft>
          <a:spcPct val="0"/>
        </a:spcAft>
        <a:defRPr sz="3000">
          <a:solidFill>
            <a:schemeClr val="tx1"/>
          </a:solidFill>
          <a:latin typeface="Calibri" charset="0"/>
          <a:ea typeface="MS PGothic"/>
          <a:cs typeface="MS PGothic"/>
        </a:defRPr>
      </a:lvl4pPr>
      <a:lvl5pPr algn="ctr" rtl="0" eaLnBrk="1" fontAlgn="base" hangingPunct="1">
        <a:spcBef>
          <a:spcPct val="0"/>
        </a:spcBef>
        <a:spcAft>
          <a:spcPct val="0"/>
        </a:spcAft>
        <a:defRPr sz="3000">
          <a:solidFill>
            <a:schemeClr val="tx1"/>
          </a:solidFill>
          <a:latin typeface="Calibri" charset="0"/>
          <a:ea typeface="MS PGothic"/>
          <a:cs typeface="MS PGothic"/>
        </a:defRPr>
      </a:lvl5pPr>
      <a:lvl6pPr marL="457200" algn="ctr" rtl="0" eaLnBrk="1" fontAlgn="base" hangingPunct="1">
        <a:spcBef>
          <a:spcPct val="0"/>
        </a:spcBef>
        <a:spcAft>
          <a:spcPct val="0"/>
        </a:spcAft>
        <a:defRPr sz="3000">
          <a:solidFill>
            <a:schemeClr val="tx1"/>
          </a:solidFill>
          <a:latin typeface="Calibri" charset="0"/>
          <a:ea typeface="ＭＳ Ｐゴシック" charset="-128"/>
        </a:defRPr>
      </a:lvl6pPr>
      <a:lvl7pPr marL="914400" algn="ctr" rtl="0" eaLnBrk="1" fontAlgn="base" hangingPunct="1">
        <a:spcBef>
          <a:spcPct val="0"/>
        </a:spcBef>
        <a:spcAft>
          <a:spcPct val="0"/>
        </a:spcAft>
        <a:defRPr sz="3000">
          <a:solidFill>
            <a:schemeClr val="tx1"/>
          </a:solidFill>
          <a:latin typeface="Calibri" charset="0"/>
          <a:ea typeface="ＭＳ Ｐゴシック" charset="-128"/>
        </a:defRPr>
      </a:lvl7pPr>
      <a:lvl8pPr marL="1371600" algn="ctr" rtl="0" eaLnBrk="1" fontAlgn="base" hangingPunct="1">
        <a:spcBef>
          <a:spcPct val="0"/>
        </a:spcBef>
        <a:spcAft>
          <a:spcPct val="0"/>
        </a:spcAft>
        <a:defRPr sz="3000">
          <a:solidFill>
            <a:schemeClr val="tx1"/>
          </a:solidFill>
          <a:latin typeface="Calibri" charset="0"/>
          <a:ea typeface="ＭＳ Ｐゴシック" charset="-128"/>
        </a:defRPr>
      </a:lvl8pPr>
      <a:lvl9pPr marL="1828800" algn="ctr" rtl="0" eaLnBrk="1" fontAlgn="base" hangingPunct="1">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https://docs.langchain.com/"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3608" y="1628800"/>
            <a:ext cx="7560840" cy="1200329"/>
          </a:xfrm>
          <a:prstGeom prst="rect">
            <a:avLst/>
          </a:prstGeom>
          <a:noFill/>
        </p:spPr>
        <p:txBody>
          <a:bodyPr wrap="square" rtlCol="0">
            <a:spAutoFit/>
          </a:bodyPr>
          <a:lstStyle/>
          <a:p>
            <a:pPr algn="ctr"/>
            <a:r>
              <a:rPr lang="en-US" sz="3600" dirty="0">
                <a:solidFill>
                  <a:srgbClr val="FF0000"/>
                </a:solidFill>
                <a:latin typeface="Arial Black" pitchFamily="34" charset="0"/>
              </a:rPr>
              <a:t>Project Based Learning –V (AIP102)</a:t>
            </a:r>
          </a:p>
        </p:txBody>
      </p:sp>
      <p:sp>
        <p:nvSpPr>
          <p:cNvPr id="5" name="TextBox 4"/>
          <p:cNvSpPr txBox="1"/>
          <p:nvPr/>
        </p:nvSpPr>
        <p:spPr>
          <a:xfrm>
            <a:off x="3275856" y="4653136"/>
            <a:ext cx="255198" cy="954107"/>
          </a:xfrm>
          <a:prstGeom prst="rect">
            <a:avLst/>
          </a:prstGeom>
          <a:noFill/>
        </p:spPr>
        <p:txBody>
          <a:bodyPr wrap="none" rtlCol="0">
            <a:spAutoFit/>
          </a:bodyPr>
          <a:lstStyle/>
          <a:p>
            <a:r>
              <a:rPr lang="en-US" sz="2000" dirty="0">
                <a:latin typeface="Times New Roman" pitchFamily="18" charset="0"/>
                <a:cs typeface="Times New Roman" pitchFamily="18" charset="0"/>
              </a:rPr>
              <a:t>:</a:t>
            </a:r>
          </a:p>
          <a:p>
            <a:endParaRPr lang="en-US" dirty="0"/>
          </a:p>
          <a:p>
            <a:endParaRPr lang="en-US" dirty="0"/>
          </a:p>
        </p:txBody>
      </p:sp>
      <p:sp>
        <p:nvSpPr>
          <p:cNvPr id="6" name="TextBox 5">
            <a:extLst>
              <a:ext uri="{FF2B5EF4-FFF2-40B4-BE49-F238E27FC236}">
                <a16:creationId xmlns:a16="http://schemas.microsoft.com/office/drawing/2014/main" id="{39596CC0-0544-9FD2-7AFD-B23ECB7AE8F4}"/>
              </a:ext>
            </a:extLst>
          </p:cNvPr>
          <p:cNvSpPr txBox="1"/>
          <p:nvPr/>
        </p:nvSpPr>
        <p:spPr>
          <a:xfrm>
            <a:off x="2195736" y="2852936"/>
            <a:ext cx="5112568" cy="2185214"/>
          </a:xfrm>
          <a:prstGeom prst="rect">
            <a:avLst/>
          </a:prstGeom>
          <a:solidFill>
            <a:schemeClr val="accent6">
              <a:lumMod val="60000"/>
              <a:lumOff val="40000"/>
            </a:schemeClr>
          </a:solidFill>
        </p:spPr>
        <p:txBody>
          <a:bodyPr wrap="square" rtlCol="0">
            <a:spAutoFit/>
          </a:bodyPr>
          <a:lstStyle/>
          <a:p>
            <a:r>
              <a:rPr lang="en-US" sz="2000" dirty="0"/>
              <a:t>Team Details: Amrit Kaur(2310993773) </a:t>
            </a:r>
          </a:p>
          <a:p>
            <a:r>
              <a:rPr lang="en-US" sz="2000" dirty="0"/>
              <a:t>                         Prachi(2310993902)</a:t>
            </a:r>
          </a:p>
          <a:p>
            <a:r>
              <a:rPr lang="en-US" sz="2000" dirty="0"/>
              <a:t>	         Akansha(2310993769)</a:t>
            </a:r>
            <a:br>
              <a:rPr lang="en-US" sz="2000" dirty="0"/>
            </a:br>
            <a:r>
              <a:rPr lang="en-US" sz="2000" dirty="0"/>
              <a:t> Topic:- </a:t>
            </a:r>
            <a:r>
              <a:rPr lang="en-IN" sz="2000" dirty="0"/>
              <a:t>DOCATHOME :</a:t>
            </a:r>
            <a:r>
              <a:rPr lang="en-IN" sz="2000" dirty="0" err="1"/>
              <a:t>AIDoctorChatbot</a:t>
            </a:r>
            <a:endParaRPr lang="en-US" sz="2000" dirty="0"/>
          </a:p>
          <a:p>
            <a:endParaRPr lang="en-US" dirty="0">
              <a:solidFill>
                <a:schemeClr val="bg1"/>
              </a:solidFill>
            </a:endParaRPr>
          </a:p>
          <a:p>
            <a:r>
              <a:rPr lang="en-US" sz="2000" dirty="0">
                <a:latin typeface="Times New Roman" pitchFamily="18" charset="0"/>
                <a:cs typeface="Times New Roman" pitchFamily="18" charset="0"/>
              </a:rPr>
              <a:t>Faculty Coordinator: </a:t>
            </a:r>
            <a:r>
              <a:rPr lang="en-US" sz="2000" dirty="0" err="1">
                <a:latin typeface="Times New Roman" pitchFamily="18" charset="0"/>
                <a:cs typeface="Times New Roman" pitchFamily="18" charset="0"/>
              </a:rPr>
              <a:t>Dr.Harshvardhan</a:t>
            </a:r>
            <a:endParaRPr lang="en-US" dirty="0">
              <a:solidFill>
                <a:schemeClr val="bg1"/>
              </a:solidFill>
            </a:endParaRPr>
          </a:p>
          <a:p>
            <a:endParaRPr lang="en-US" dirty="0">
              <a:solidFill>
                <a:schemeClr val="bg1"/>
              </a:solidFill>
            </a:endParaRPr>
          </a:p>
        </p:txBody>
      </p:sp>
      <p:sp>
        <p:nvSpPr>
          <p:cNvPr id="9" name="TextBox 8"/>
          <p:cNvSpPr txBox="1"/>
          <p:nvPr/>
        </p:nvSpPr>
        <p:spPr>
          <a:xfrm>
            <a:off x="1187624" y="5661248"/>
            <a:ext cx="6947095" cy="707886"/>
          </a:xfrm>
          <a:prstGeom prst="rect">
            <a:avLst/>
          </a:prstGeom>
          <a:noFill/>
        </p:spPr>
        <p:txBody>
          <a:bodyPr wrap="none" rtlCol="0">
            <a:spAutoFit/>
          </a:bodyPr>
          <a:lstStyle/>
          <a:p>
            <a:r>
              <a:rPr lang="en-US" sz="2000" b="1" dirty="0" err="1">
                <a:solidFill>
                  <a:srgbClr val="FF0000"/>
                </a:solidFill>
                <a:latin typeface="Times New Roman" pitchFamily="18" charset="0"/>
                <a:cs typeface="Times New Roman" pitchFamily="18" charset="0"/>
              </a:rPr>
              <a:t>Chitkara</a:t>
            </a:r>
            <a:r>
              <a:rPr lang="en-US" sz="2000" b="1" dirty="0">
                <a:solidFill>
                  <a:srgbClr val="FF0000"/>
                </a:solidFill>
                <a:latin typeface="Times New Roman" pitchFamily="18" charset="0"/>
                <a:cs typeface="Times New Roman" pitchFamily="18" charset="0"/>
              </a:rPr>
              <a:t> University Institute of Engineering and Technology, </a:t>
            </a:r>
          </a:p>
          <a:p>
            <a:pPr algn="ctr"/>
            <a:r>
              <a:rPr lang="en-US" sz="2000" b="1" dirty="0" err="1">
                <a:solidFill>
                  <a:srgbClr val="FF0000"/>
                </a:solidFill>
                <a:latin typeface="Times New Roman" pitchFamily="18" charset="0"/>
                <a:cs typeface="Times New Roman" pitchFamily="18" charset="0"/>
              </a:rPr>
              <a:t>Chitkara</a:t>
            </a:r>
            <a:r>
              <a:rPr lang="en-US" sz="2000" b="1" dirty="0">
                <a:solidFill>
                  <a:srgbClr val="FF0000"/>
                </a:solidFill>
                <a:latin typeface="Times New Roman" pitchFamily="18" charset="0"/>
                <a:cs typeface="Times New Roman" pitchFamily="18" charset="0"/>
              </a:rPr>
              <a:t> University, Punjab</a:t>
            </a:r>
          </a:p>
        </p:txBody>
      </p:sp>
    </p:spTree>
  </p:cSld>
  <p:clrMapOvr>
    <a:masterClrMapping/>
  </p:clrMapOvr>
  <p:transition advTm="4000">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dirty="0">
                <a:latin typeface="Times New Roman" pitchFamily="18" charset="0"/>
                <a:cs typeface="Times New Roman" pitchFamily="18" charset="0"/>
              </a:rPr>
              <a:t>Table of Contents</a:t>
            </a:r>
            <a:endParaRPr lang="en-US" b="1" dirty="0">
              <a:latin typeface="Times New Roman" pitchFamily="18" charset="0"/>
              <a:cs typeface="Times New Roman" pitchFamily="18" charset="0"/>
            </a:endParaRPr>
          </a:p>
        </p:txBody>
      </p:sp>
      <p:sp>
        <p:nvSpPr>
          <p:cNvPr id="3" name="TextBox 2"/>
          <p:cNvSpPr txBox="1"/>
          <p:nvPr/>
        </p:nvSpPr>
        <p:spPr>
          <a:xfrm>
            <a:off x="323528" y="980728"/>
            <a:ext cx="6912768" cy="5262979"/>
          </a:xfrm>
          <a:prstGeom prst="rect">
            <a:avLst/>
          </a:prstGeom>
          <a:noFill/>
        </p:spPr>
        <p:txBody>
          <a:bodyPr wrap="square" rtlCol="0">
            <a:spAutoFit/>
          </a:bodyPr>
          <a:lstStyle/>
          <a:p>
            <a:pPr>
              <a:buFont typeface="Arial" pitchFamily="34" charset="0"/>
              <a:buChar char="•"/>
            </a:pPr>
            <a:r>
              <a:rPr lang="en-US" sz="2800" dirty="0">
                <a:latin typeface="Times New Roman" pitchFamily="18" charset="0"/>
                <a:cs typeface="Times New Roman" pitchFamily="18" charset="0"/>
              </a:rPr>
              <a:t>Introduction</a:t>
            </a:r>
          </a:p>
          <a:p>
            <a:pPr>
              <a:buFont typeface="Arial" pitchFamily="34" charset="0"/>
              <a:buChar char="•"/>
            </a:pPr>
            <a:r>
              <a:rPr lang="en-US" sz="2800" dirty="0">
                <a:latin typeface="Times New Roman" pitchFamily="18" charset="0"/>
                <a:cs typeface="Times New Roman" pitchFamily="18" charset="0"/>
              </a:rPr>
              <a:t>Problem Statement</a:t>
            </a:r>
          </a:p>
          <a:p>
            <a:pPr>
              <a:buFont typeface="Arial" pitchFamily="34" charset="0"/>
              <a:buChar char="•"/>
            </a:pPr>
            <a:r>
              <a:rPr lang="en-US" sz="2800" dirty="0">
                <a:latin typeface="Times New Roman" pitchFamily="18" charset="0"/>
                <a:cs typeface="Times New Roman" pitchFamily="18" charset="0"/>
              </a:rPr>
              <a:t>Methodology</a:t>
            </a:r>
          </a:p>
          <a:p>
            <a:pPr>
              <a:buFont typeface="Arial" pitchFamily="34" charset="0"/>
              <a:buChar char="•"/>
            </a:pPr>
            <a:r>
              <a:rPr lang="en-US" sz="2800" dirty="0">
                <a:latin typeface="Times New Roman" pitchFamily="18" charset="0"/>
                <a:cs typeface="Times New Roman" pitchFamily="18" charset="0"/>
              </a:rPr>
              <a:t>Objectives</a:t>
            </a:r>
          </a:p>
          <a:p>
            <a:pPr>
              <a:buFont typeface="Arial" pitchFamily="34" charset="0"/>
              <a:buChar char="•"/>
            </a:pPr>
            <a:r>
              <a:rPr lang="en-US" sz="2800" dirty="0">
                <a:latin typeface="Times New Roman" pitchFamily="18" charset="0"/>
                <a:cs typeface="Times New Roman" pitchFamily="18" charset="0"/>
              </a:rPr>
              <a:t>Progress</a:t>
            </a:r>
          </a:p>
          <a:p>
            <a:pPr>
              <a:buFont typeface="Arial" pitchFamily="34" charset="0"/>
              <a:buChar char="•"/>
            </a:pPr>
            <a:r>
              <a:rPr lang="en-US" sz="2800" dirty="0">
                <a:latin typeface="Times New Roman" pitchFamily="18" charset="0"/>
                <a:cs typeface="Times New Roman" pitchFamily="18" charset="0"/>
              </a:rPr>
              <a:t>Dataset</a:t>
            </a:r>
          </a:p>
          <a:p>
            <a:pPr>
              <a:buFont typeface="Arial" pitchFamily="34" charset="0"/>
              <a:buChar char="•"/>
            </a:pPr>
            <a:r>
              <a:rPr lang="en-US" sz="2800" dirty="0">
                <a:latin typeface="Times New Roman" pitchFamily="18" charset="0"/>
                <a:cs typeface="Times New Roman" pitchFamily="18" charset="0"/>
              </a:rPr>
              <a:t>Conclusion</a:t>
            </a:r>
          </a:p>
          <a:p>
            <a:pPr>
              <a:buFont typeface="Arial" pitchFamily="34" charset="0"/>
              <a:buChar char="•"/>
            </a:pPr>
            <a:r>
              <a:rPr lang="en-US" sz="2800" dirty="0">
                <a:latin typeface="Times New Roman" pitchFamily="18" charset="0"/>
                <a:cs typeface="Times New Roman" pitchFamily="18" charset="0"/>
              </a:rPr>
              <a:t>References/Links used</a:t>
            </a:r>
          </a:p>
          <a:p>
            <a:endParaRPr lang="en-US" sz="2800" dirty="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a:p>
            <a:pPr>
              <a:buFont typeface="Arial" pitchFamily="34" charset="0"/>
              <a:buChar char="•"/>
            </a:pPr>
            <a:endParaRPr lang="en-US" sz="2800" dirty="0">
              <a:latin typeface="Times New Roman" pitchFamily="18" charset="0"/>
              <a:cs typeface="Times New Roman" pitchFamily="18" charset="0"/>
            </a:endParaRPr>
          </a:p>
          <a:p>
            <a:pPr>
              <a:buFont typeface="Arial" pitchFamily="34" charset="0"/>
              <a:buChar char="•"/>
            </a:pPr>
            <a:endParaRPr lang="en-US" sz="2800" dirty="0">
              <a:latin typeface="Times New Roman" pitchFamily="18" charset="0"/>
              <a:cs typeface="Times New Roman" pitchFamily="18" charset="0"/>
            </a:endParaRPr>
          </a:p>
        </p:txBody>
      </p:sp>
    </p:spTree>
  </p:cSld>
  <p:clrMapOvr>
    <a:masterClrMapping/>
  </p:clrMapOvr>
  <p:transition advTm="4000">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2FC0-22E4-D69D-6F39-E7A80485C5D2}"/>
              </a:ext>
            </a:extLst>
          </p:cNvPr>
          <p:cNvSpPr>
            <a:spLocks noGrp="1"/>
          </p:cNvSpPr>
          <p:nvPr>
            <p:ph type="ctrTitle"/>
          </p:nvPr>
        </p:nvSpPr>
        <p:spPr/>
        <p:txBody>
          <a:bodyPr/>
          <a:lstStyle/>
          <a:p>
            <a:r>
              <a:rPr lang="en-IN" dirty="0"/>
              <a:t>Introduction</a:t>
            </a:r>
          </a:p>
        </p:txBody>
      </p:sp>
      <p:sp>
        <p:nvSpPr>
          <p:cNvPr id="3" name="Subtitle 2">
            <a:extLst>
              <a:ext uri="{FF2B5EF4-FFF2-40B4-BE49-F238E27FC236}">
                <a16:creationId xmlns:a16="http://schemas.microsoft.com/office/drawing/2014/main" id="{B79DCB07-7446-E908-AF56-A7F28ED6CABA}"/>
              </a:ext>
            </a:extLst>
          </p:cNvPr>
          <p:cNvSpPr>
            <a:spLocks noGrp="1"/>
          </p:cNvSpPr>
          <p:nvPr>
            <p:ph type="subTitle" idx="1"/>
          </p:nvPr>
        </p:nvSpPr>
        <p:spPr>
          <a:xfrm>
            <a:off x="539552" y="1484784"/>
            <a:ext cx="7560840" cy="3960440"/>
          </a:xfrm>
        </p:spPr>
        <p:txBody>
          <a:bodyPr/>
          <a:lstStyle/>
          <a:p>
            <a:pPr algn="just"/>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The AI Medical Imaging Assistant is an intelligent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Streamlit</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-based healthcare chatbot that assists doctors and radiologists in analyzing medical cases and reports. It uses Agentic AI principles and Hugging Face NLP models to simulate professional doctor-patient interactions. The system allows report uploads (PDF, DOCX, TXT) and interactive case discussions through chat. It provides context-aware, offline or online AI responses, making it reliable in all environments. Built with a modular design, it ensures scalability, flexibility, and easy integration into medical workflows.</a:t>
            </a:r>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0443876"/>
      </p:ext>
    </p:extLst>
  </p:cSld>
  <p:clrMapOvr>
    <a:masterClrMapping/>
  </p:clrMapOvr>
  <p:transition advTm="4000">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Problem Statement</a:t>
            </a:r>
          </a:p>
        </p:txBody>
      </p:sp>
      <p:sp>
        <p:nvSpPr>
          <p:cNvPr id="5" name="TextBox 4">
            <a:extLst>
              <a:ext uri="{FF2B5EF4-FFF2-40B4-BE49-F238E27FC236}">
                <a16:creationId xmlns:a16="http://schemas.microsoft.com/office/drawing/2014/main" id="{3A246631-712D-045A-EF8F-D33B0199F8D2}"/>
              </a:ext>
            </a:extLst>
          </p:cNvPr>
          <p:cNvSpPr txBox="1"/>
          <p:nvPr/>
        </p:nvSpPr>
        <p:spPr>
          <a:xfrm>
            <a:off x="467544" y="1772815"/>
            <a:ext cx="7488832" cy="2712281"/>
          </a:xfrm>
          <a:prstGeom prst="rect">
            <a:avLst/>
          </a:prstGeom>
          <a:noFill/>
        </p:spPr>
        <p:txBody>
          <a:bodyPr wrap="square">
            <a:spAutoFit/>
          </a:bodyPr>
          <a:lstStyle/>
          <a:p>
            <a:pPr algn="just">
              <a:lnSpc>
                <a:spcPct val="107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Access to timely and reliable medical guidance is still limited, especially in remote or underserved regions. Existing rule-based bots and symptom checkers often fail to understand context or complex medical terminology. Additionally, managing and retrieving large volumes of medical data efficiently remains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challenging.There</a:t>
            </a:r>
            <a:r>
              <a:rPr lang="en-US" sz="2000" dirty="0">
                <a:effectLst/>
                <a:latin typeface="Calibri" panose="020F0502020204030204" pitchFamily="34" charset="0"/>
                <a:ea typeface="Calibri" panose="020F0502020204030204" pitchFamily="34" charset="0"/>
                <a:cs typeface="Times New Roman" panose="02020603050405020304" pitchFamily="18" charset="0"/>
              </a:rPr>
              <a:t> is a need for an AI-powered assistant capable of providing real-time, accurate, and personalized health support, while ensuring security, scalability, and ease of deployment through modern AI technologies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ransition advTm="4000">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Methodology</a:t>
            </a:r>
          </a:p>
        </p:txBody>
      </p:sp>
      <p:sp>
        <p:nvSpPr>
          <p:cNvPr id="4" name="TextBox 3">
            <a:extLst>
              <a:ext uri="{FF2B5EF4-FFF2-40B4-BE49-F238E27FC236}">
                <a16:creationId xmlns:a16="http://schemas.microsoft.com/office/drawing/2014/main" id="{12EBC75E-6E42-86A4-B6D8-0BB3338A8946}"/>
              </a:ext>
            </a:extLst>
          </p:cNvPr>
          <p:cNvSpPr txBox="1"/>
          <p:nvPr/>
        </p:nvSpPr>
        <p:spPr>
          <a:xfrm>
            <a:off x="467544" y="1340768"/>
            <a:ext cx="8568952" cy="4524315"/>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Data Acquisition &amp; Preprocessing</a:t>
            </a:r>
            <a:endParaRPr lang="en-US"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Medical datasets and sample reports collected for training and testing.</a:t>
            </a:r>
          </a:p>
          <a:p>
            <a:pPr lvl="1" algn="just"/>
            <a:r>
              <a:rPr lang="en-US" dirty="0">
                <a:latin typeface="Times New Roman" panose="02020603050405020304" pitchFamily="18" charset="0"/>
                <a:cs typeface="Times New Roman" panose="02020603050405020304" pitchFamily="18" charset="0"/>
              </a:rPr>
              <a:t>Text data cleaned, tokenized, and converted into embeddings for efficient retrieval.</a:t>
            </a:r>
          </a:p>
          <a:p>
            <a:pPr algn="just"/>
            <a:r>
              <a:rPr lang="en-US" b="1" dirty="0">
                <a:latin typeface="Times New Roman" panose="02020603050405020304" pitchFamily="18" charset="0"/>
                <a:cs typeface="Times New Roman" panose="02020603050405020304" pitchFamily="18" charset="0"/>
              </a:rPr>
              <a:t>AI Model Integration</a:t>
            </a:r>
            <a:endParaRPr lang="en-US"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Used </a:t>
            </a:r>
            <a:r>
              <a:rPr lang="en-US" b="1" dirty="0">
                <a:latin typeface="Times New Roman" panose="02020603050405020304" pitchFamily="18" charset="0"/>
                <a:cs typeface="Times New Roman" panose="02020603050405020304" pitchFamily="18" charset="0"/>
              </a:rPr>
              <a:t>Hugging Face Transformers</a:t>
            </a:r>
            <a:r>
              <a:rPr lang="en-US" dirty="0">
                <a:latin typeface="Times New Roman" panose="02020603050405020304" pitchFamily="18" charset="0"/>
                <a:cs typeface="Times New Roman" panose="02020603050405020304" pitchFamily="18" charset="0"/>
              </a:rPr>
              <a:t> for text understanding and generation.</a:t>
            </a:r>
          </a:p>
          <a:p>
            <a:pPr lvl="1" algn="just"/>
            <a:r>
              <a:rPr lang="en-US" dirty="0">
                <a:latin typeface="Times New Roman" panose="02020603050405020304" pitchFamily="18" charset="0"/>
                <a:cs typeface="Times New Roman" panose="02020603050405020304" pitchFamily="18" charset="0"/>
              </a:rPr>
              <a:t>Integrated </a:t>
            </a:r>
            <a:r>
              <a:rPr lang="en-US" b="1" dirty="0">
                <a:latin typeface="Times New Roman" panose="02020603050405020304" pitchFamily="18" charset="0"/>
                <a:cs typeface="Times New Roman" panose="02020603050405020304" pitchFamily="18" charset="0"/>
              </a:rPr>
              <a:t>Gemini / Hugging Face models</a:t>
            </a:r>
            <a:r>
              <a:rPr lang="en-US" dirty="0">
                <a:latin typeface="Times New Roman" panose="02020603050405020304" pitchFamily="18" charset="0"/>
                <a:cs typeface="Times New Roman" panose="02020603050405020304" pitchFamily="18" charset="0"/>
              </a:rPr>
              <a:t> for report-based Q&amp;A and chat responses.</a:t>
            </a:r>
          </a:p>
          <a:p>
            <a:pPr algn="just"/>
            <a:r>
              <a:rPr lang="en-US" b="1" dirty="0">
                <a:latin typeface="Times New Roman" panose="02020603050405020304" pitchFamily="18" charset="0"/>
                <a:cs typeface="Times New Roman" panose="02020603050405020304" pitchFamily="18" charset="0"/>
              </a:rPr>
              <a:t>Backend Development</a:t>
            </a:r>
            <a:endParaRPr lang="en-US"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Python-based backend manages report analysis, chat sessions, and data storage.</a:t>
            </a:r>
          </a:p>
          <a:p>
            <a:pPr lvl="1" algn="just"/>
            <a:r>
              <a:rPr lang="en-US" dirty="0">
                <a:latin typeface="Times New Roman" panose="02020603050405020304" pitchFamily="18" charset="0"/>
                <a:cs typeface="Times New Roman" panose="02020603050405020304" pitchFamily="18" charset="0"/>
              </a:rPr>
              <a:t>JSON and local file storage ensure quick retrieval and persistence.</a:t>
            </a:r>
          </a:p>
          <a:p>
            <a:pPr algn="just"/>
            <a:r>
              <a:rPr lang="en-US" b="1" dirty="0">
                <a:latin typeface="Times New Roman" panose="02020603050405020304" pitchFamily="18" charset="0"/>
                <a:cs typeface="Times New Roman" panose="02020603050405020304" pitchFamily="18" charset="0"/>
              </a:rPr>
              <a:t>Frontend Interface</a:t>
            </a:r>
            <a:endParaRPr lang="en-US"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Built using </a:t>
            </a:r>
            <a:r>
              <a:rPr lang="en-US" b="1"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for an interactive and user-friendly experience.</a:t>
            </a:r>
          </a:p>
          <a:p>
            <a:pPr lvl="1" algn="just"/>
            <a:r>
              <a:rPr lang="en-US" dirty="0">
                <a:latin typeface="Times New Roman" panose="02020603050405020304" pitchFamily="18" charset="0"/>
                <a:cs typeface="Times New Roman" panose="02020603050405020304" pitchFamily="18" charset="0"/>
              </a:rPr>
              <a:t>Features include </a:t>
            </a:r>
            <a:r>
              <a:rPr lang="en-US" b="1" dirty="0">
                <a:latin typeface="Times New Roman" panose="02020603050405020304" pitchFamily="18" charset="0"/>
                <a:cs typeface="Times New Roman" panose="02020603050405020304" pitchFamily="18" charset="0"/>
              </a:rPr>
              <a:t>Report Upload</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AI Chat</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Case Discussion</a:t>
            </a:r>
            <a:r>
              <a:rPr lang="en-US" dirty="0">
                <a:latin typeface="Times New Roman" panose="02020603050405020304" pitchFamily="18" charset="0"/>
                <a:cs typeface="Times New Roman" panose="02020603050405020304" pitchFamily="18" charset="0"/>
              </a:rPr>
              <a:t> modules.</a:t>
            </a:r>
          </a:p>
          <a:p>
            <a:pPr algn="just"/>
            <a:r>
              <a:rPr lang="en-US" b="1" dirty="0">
                <a:latin typeface="Times New Roman" panose="02020603050405020304" pitchFamily="18" charset="0"/>
                <a:cs typeface="Times New Roman" panose="02020603050405020304" pitchFamily="18" charset="0"/>
              </a:rPr>
              <a:t>Testing &amp; Evaluation</a:t>
            </a:r>
            <a:endParaRPr lang="en-US"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Validated chatbot responses for medical relevance and clarity.</a:t>
            </a:r>
          </a:p>
          <a:p>
            <a:pPr lvl="1" algn="just"/>
            <a:r>
              <a:rPr lang="en-US" dirty="0">
                <a:latin typeface="Times New Roman" panose="02020603050405020304" pitchFamily="18" charset="0"/>
                <a:cs typeface="Times New Roman" panose="02020603050405020304" pitchFamily="18" charset="0"/>
              </a:rPr>
              <a:t>Ensured offline fallback and error handling for robust </a:t>
            </a:r>
            <a:r>
              <a:rPr lang="en-US" dirty="0"/>
              <a:t>performance.</a:t>
            </a:r>
          </a:p>
          <a:p>
            <a:endParaRPr lang="en-US" dirty="0"/>
          </a:p>
        </p:txBody>
      </p:sp>
    </p:spTree>
  </p:cSld>
  <p:clrMapOvr>
    <a:masterClrMapping/>
  </p:clrMapOvr>
  <p:transition advTm="4000">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Methodology</a:t>
            </a:r>
          </a:p>
        </p:txBody>
      </p:sp>
      <p:sp>
        <p:nvSpPr>
          <p:cNvPr id="4" name="TextBox 3">
            <a:extLst>
              <a:ext uri="{FF2B5EF4-FFF2-40B4-BE49-F238E27FC236}">
                <a16:creationId xmlns:a16="http://schemas.microsoft.com/office/drawing/2014/main" id="{5C7A505F-FE11-D281-1CA8-82D0D6A94909}"/>
              </a:ext>
            </a:extLst>
          </p:cNvPr>
          <p:cNvSpPr txBox="1"/>
          <p:nvPr/>
        </p:nvSpPr>
        <p:spPr>
          <a:xfrm>
            <a:off x="467544" y="1476498"/>
            <a:ext cx="7848872" cy="2862322"/>
          </a:xfrm>
          <a:prstGeom prst="rect">
            <a:avLst/>
          </a:prstGeom>
          <a:noFill/>
        </p:spPr>
        <p:txBody>
          <a:bodyPr wrap="square">
            <a:spAutoFit/>
          </a:bodyPr>
          <a:lstStyle/>
          <a:p>
            <a:pPr algn="just">
              <a:buFont typeface="Arial" panose="020B0604020202020204" pitchFamily="34" charset="0"/>
              <a:buChar char="•"/>
            </a:pPr>
            <a:r>
              <a:rPr lang="en-US" b="1" dirty="0"/>
              <a:t>Data Handling:</a:t>
            </a:r>
            <a:r>
              <a:rPr lang="en-US" dirty="0"/>
              <a:t> Collected diverse medical case reports and text data for training and testing.</a:t>
            </a:r>
          </a:p>
          <a:p>
            <a:pPr algn="just">
              <a:buFont typeface="Arial" panose="020B0604020202020204" pitchFamily="34" charset="0"/>
              <a:buChar char="•"/>
            </a:pPr>
            <a:r>
              <a:rPr lang="en-US" b="1" dirty="0"/>
              <a:t>Model Integration:</a:t>
            </a:r>
            <a:r>
              <a:rPr lang="en-US" dirty="0"/>
              <a:t> Used </a:t>
            </a:r>
            <a:r>
              <a:rPr lang="en-US" b="1" dirty="0"/>
              <a:t>Hugging Face transformers</a:t>
            </a:r>
            <a:r>
              <a:rPr lang="en-US" dirty="0"/>
              <a:t> (DistilGPT2 / Phi-2 / </a:t>
            </a:r>
            <a:r>
              <a:rPr lang="en-US" dirty="0" err="1"/>
              <a:t>BioGPT</a:t>
            </a:r>
            <a:r>
              <a:rPr lang="en-US" dirty="0"/>
              <a:t>) for generating medical responses.</a:t>
            </a:r>
          </a:p>
          <a:p>
            <a:pPr algn="just">
              <a:buFont typeface="Arial" panose="020B0604020202020204" pitchFamily="34" charset="0"/>
              <a:buChar char="•"/>
            </a:pPr>
            <a:r>
              <a:rPr lang="en-US" b="1" dirty="0"/>
              <a:t>Backend Development:</a:t>
            </a:r>
            <a:r>
              <a:rPr lang="en-US" dirty="0"/>
              <a:t> Implemented chat logic, report parsing, and room-based discussion using </a:t>
            </a:r>
            <a:r>
              <a:rPr lang="en-US" b="1" dirty="0"/>
              <a:t>Python</a:t>
            </a:r>
            <a:r>
              <a:rPr lang="en-US" dirty="0"/>
              <a:t> and </a:t>
            </a:r>
            <a:r>
              <a:rPr lang="en-US" b="1" dirty="0"/>
              <a:t>JSON storage</a:t>
            </a:r>
            <a:r>
              <a:rPr lang="en-US" dirty="0"/>
              <a:t>.</a:t>
            </a:r>
          </a:p>
          <a:p>
            <a:pPr algn="just">
              <a:buFont typeface="Arial" panose="020B0604020202020204" pitchFamily="34" charset="0"/>
              <a:buChar char="•"/>
            </a:pPr>
            <a:r>
              <a:rPr lang="en-US" b="1" dirty="0"/>
              <a:t>Frontend Interface:</a:t>
            </a:r>
            <a:r>
              <a:rPr lang="en-US" dirty="0"/>
              <a:t> Built an interactive UI using </a:t>
            </a:r>
            <a:r>
              <a:rPr lang="en-US" b="1" dirty="0" err="1"/>
              <a:t>Streamlit</a:t>
            </a:r>
            <a:r>
              <a:rPr lang="en-US" dirty="0"/>
              <a:t> with image upload, chat, and report Q&amp;A features.</a:t>
            </a:r>
          </a:p>
          <a:p>
            <a:pPr algn="just">
              <a:buFont typeface="Arial" panose="020B0604020202020204" pitchFamily="34" charset="0"/>
              <a:buChar char="•"/>
            </a:pPr>
            <a:r>
              <a:rPr lang="en-US" b="1" dirty="0"/>
              <a:t>Testing &amp; Optimization:</a:t>
            </a:r>
            <a:r>
              <a:rPr lang="en-US" dirty="0"/>
              <a:t> Ensured accurate, context-aware responses, offline fallback mode, and smooth execution.</a:t>
            </a:r>
          </a:p>
        </p:txBody>
      </p:sp>
    </p:spTree>
    <p:extLst>
      <p:ext uri="{BB962C8B-B14F-4D97-AF65-F5344CB8AC3E}">
        <p14:creationId xmlns:p14="http://schemas.microsoft.com/office/powerpoint/2010/main" val="612887361"/>
      </p:ext>
    </p:extLst>
  </p:cSld>
  <p:clrMapOvr>
    <a:masterClrMapping/>
  </p:clrMapOvr>
  <p:transition advTm="4000">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D1604-ADC3-94D7-1567-273E8C6832A9}"/>
              </a:ext>
            </a:extLst>
          </p:cNvPr>
          <p:cNvSpPr>
            <a:spLocks noGrp="1"/>
          </p:cNvSpPr>
          <p:nvPr>
            <p:ph type="ctrTitle"/>
          </p:nvPr>
        </p:nvSpPr>
        <p:spPr>
          <a:xfrm>
            <a:off x="0" y="11374"/>
            <a:ext cx="5486400" cy="914400"/>
          </a:xfrm>
        </p:spPr>
        <p:txBody>
          <a:bodyPr/>
          <a:lstStyle/>
          <a:p>
            <a:r>
              <a:rPr lang="en-IN" dirty="0"/>
              <a:t>Objectives</a:t>
            </a:r>
          </a:p>
        </p:txBody>
      </p:sp>
      <p:sp>
        <p:nvSpPr>
          <p:cNvPr id="3" name="Subtitle 2">
            <a:extLst>
              <a:ext uri="{FF2B5EF4-FFF2-40B4-BE49-F238E27FC236}">
                <a16:creationId xmlns:a16="http://schemas.microsoft.com/office/drawing/2014/main" id="{BBBAA185-FA07-0018-901B-3F30C9097395}"/>
              </a:ext>
            </a:extLst>
          </p:cNvPr>
          <p:cNvSpPr>
            <a:spLocks noGrp="1"/>
          </p:cNvSpPr>
          <p:nvPr>
            <p:ph type="subTitle" idx="1"/>
          </p:nvPr>
        </p:nvSpPr>
        <p:spPr>
          <a:xfrm>
            <a:off x="0" y="836712"/>
            <a:ext cx="8686800" cy="2736304"/>
          </a:xfrm>
        </p:spPr>
        <p:txBody>
          <a:bodyPr/>
          <a:lstStyle/>
          <a:p>
            <a:pPr algn="l"/>
            <a:endParaRPr lang="en-IN" sz="1800" dirty="0">
              <a:solidFill>
                <a:schemeClr val="tx1"/>
              </a:solidFill>
              <a:latin typeface="Times New Roman" panose="02020603050405020304" pitchFamily="18" charset="0"/>
              <a:cs typeface="Times New Roman" panose="02020603050405020304" pitchFamily="18" charset="0"/>
            </a:endParaRPr>
          </a:p>
          <a:p>
            <a:pPr algn="l"/>
            <a:endParaRPr lang="en-IN" sz="1800" dirty="0">
              <a:solidFill>
                <a:schemeClr val="tx1"/>
              </a:solidFill>
              <a:latin typeface="Times New Roman" panose="02020603050405020304" pitchFamily="18" charset="0"/>
              <a:cs typeface="Times New Roman" panose="02020603050405020304" pitchFamily="18" charset="0"/>
            </a:endParaRPr>
          </a:p>
          <a:p>
            <a:pPr lvl="0" algn="l" eaLnBrk="0" hangingPunct="0">
              <a:spcBef>
                <a:spcPct val="0"/>
              </a:spcBef>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Develop an Intelligent AI Chatbot</a:t>
            </a:r>
            <a:br>
              <a:rPr lang="en-US" altLang="en-US" sz="1800" dirty="0">
                <a:solidFill>
                  <a:schemeClr val="tx1"/>
                </a:solidFill>
                <a:latin typeface="Times New Roman" panose="02020603050405020304" pitchFamily="18" charset="0"/>
                <a:cs typeface="Times New Roman" panose="02020603050405020304" pitchFamily="18" charset="0"/>
              </a:rPr>
            </a:br>
            <a:r>
              <a:rPr lang="en-US" altLang="en-US" sz="1800" dirty="0">
                <a:solidFill>
                  <a:schemeClr val="tx1"/>
                </a:solidFill>
                <a:latin typeface="Times New Roman" panose="02020603050405020304" pitchFamily="18" charset="0"/>
                <a:cs typeface="Times New Roman" panose="02020603050405020304" pitchFamily="18" charset="0"/>
              </a:rPr>
              <a:t>Create an AI-powered medical assistant that can simulate real doctor-patient conversations, providing basic medical guidance and symptom analysis.</a:t>
            </a:r>
          </a:p>
          <a:p>
            <a:pPr lvl="0" algn="l" eaLnBrk="0" hangingPunct="0">
              <a:spcBef>
                <a:spcPct val="0"/>
              </a:spcBef>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Utilize NLP for Medical Understanding</a:t>
            </a:r>
            <a:br>
              <a:rPr lang="en-US" altLang="en-US" sz="1800" dirty="0">
                <a:solidFill>
                  <a:schemeClr val="tx1"/>
                </a:solidFill>
                <a:latin typeface="Times New Roman" panose="02020603050405020304" pitchFamily="18" charset="0"/>
                <a:cs typeface="Times New Roman" panose="02020603050405020304" pitchFamily="18" charset="0"/>
              </a:rPr>
            </a:br>
            <a:r>
              <a:rPr lang="en-US" altLang="en-US" sz="1800" dirty="0">
                <a:solidFill>
                  <a:schemeClr val="tx1"/>
                </a:solidFill>
                <a:latin typeface="Times New Roman" panose="02020603050405020304" pitchFamily="18" charset="0"/>
                <a:cs typeface="Times New Roman" panose="02020603050405020304" pitchFamily="18" charset="0"/>
              </a:rPr>
              <a:t>Implement </a:t>
            </a:r>
            <a:r>
              <a:rPr lang="en-US" altLang="en-US" sz="1800" b="1" dirty="0">
                <a:solidFill>
                  <a:schemeClr val="tx1"/>
                </a:solidFill>
                <a:latin typeface="Times New Roman" panose="02020603050405020304" pitchFamily="18" charset="0"/>
                <a:cs typeface="Times New Roman" panose="02020603050405020304" pitchFamily="18" charset="0"/>
              </a:rPr>
              <a:t>Natural Language Processing (NLP)</a:t>
            </a:r>
            <a:r>
              <a:rPr lang="en-US" altLang="en-US" sz="1800" dirty="0">
                <a:solidFill>
                  <a:schemeClr val="tx1"/>
                </a:solidFill>
                <a:latin typeface="Times New Roman" panose="02020603050405020304" pitchFamily="18" charset="0"/>
                <a:cs typeface="Times New Roman" panose="02020603050405020304" pitchFamily="18" charset="0"/>
              </a:rPr>
              <a:t> techniques to accurately interpret user queries, extract symptoms, and provide context-aware responses.</a:t>
            </a:r>
          </a:p>
          <a:p>
            <a:pPr lvl="0" algn="l" eaLnBrk="0" hangingPunct="0">
              <a:spcBef>
                <a:spcPct val="0"/>
              </a:spcBef>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Design an Interactive User Interface</a:t>
            </a:r>
            <a:br>
              <a:rPr lang="en-US" altLang="en-US" sz="1800" dirty="0">
                <a:solidFill>
                  <a:schemeClr val="tx1"/>
                </a:solidFill>
                <a:latin typeface="Times New Roman" panose="02020603050405020304" pitchFamily="18" charset="0"/>
                <a:cs typeface="Times New Roman" panose="02020603050405020304" pitchFamily="18" charset="0"/>
              </a:rPr>
            </a:br>
            <a:r>
              <a:rPr lang="en-US" altLang="en-US" sz="1800" dirty="0">
                <a:solidFill>
                  <a:schemeClr val="tx1"/>
                </a:solidFill>
                <a:latin typeface="Times New Roman" panose="02020603050405020304" pitchFamily="18" charset="0"/>
                <a:cs typeface="Times New Roman" panose="02020603050405020304" pitchFamily="18" charset="0"/>
              </a:rPr>
              <a:t>Build an intuitive and user-friendly interface that enables patients to easily communicate with the chatbot using natural language input.</a:t>
            </a:r>
          </a:p>
          <a:p>
            <a:pPr lvl="0" algn="l" eaLnBrk="0" hangingPunct="0">
              <a:spcBef>
                <a:spcPct val="0"/>
              </a:spcBef>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Assist in Preliminary Diagnosis</a:t>
            </a:r>
            <a:br>
              <a:rPr lang="en-US" altLang="en-US" sz="1800" dirty="0">
                <a:solidFill>
                  <a:schemeClr val="tx1"/>
                </a:solidFill>
                <a:latin typeface="Times New Roman" panose="02020603050405020304" pitchFamily="18" charset="0"/>
                <a:cs typeface="Times New Roman" panose="02020603050405020304" pitchFamily="18" charset="0"/>
              </a:rPr>
            </a:br>
            <a:r>
              <a:rPr lang="en-US" altLang="en-US" sz="1800" dirty="0">
                <a:solidFill>
                  <a:schemeClr val="tx1"/>
                </a:solidFill>
                <a:latin typeface="Times New Roman" panose="02020603050405020304" pitchFamily="18" charset="0"/>
                <a:cs typeface="Times New Roman" panose="02020603050405020304" pitchFamily="18" charset="0"/>
              </a:rPr>
              <a:t>Help users identify potential health conditions, assess symptom severity, and suggest whether professional consultation is necessary.</a:t>
            </a:r>
          </a:p>
          <a:p>
            <a:pPr lvl="0" algn="l" eaLnBrk="0" hangingPunct="0">
              <a:spcBef>
                <a:spcPct val="0"/>
              </a:spcBef>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Enhance Accessibility and Affordability</a:t>
            </a:r>
            <a:br>
              <a:rPr lang="en-US" altLang="en-US" sz="1800" dirty="0">
                <a:solidFill>
                  <a:schemeClr val="tx1"/>
                </a:solidFill>
                <a:latin typeface="Times New Roman" panose="02020603050405020304" pitchFamily="18" charset="0"/>
                <a:cs typeface="Times New Roman" panose="02020603050405020304" pitchFamily="18" charset="0"/>
              </a:rPr>
            </a:br>
            <a:r>
              <a:rPr lang="en-US" altLang="en-US" sz="1800" dirty="0">
                <a:solidFill>
                  <a:schemeClr val="tx1"/>
                </a:solidFill>
                <a:latin typeface="Times New Roman" panose="02020603050405020304" pitchFamily="18" charset="0"/>
                <a:cs typeface="Times New Roman" panose="02020603050405020304" pitchFamily="18" charset="0"/>
              </a:rPr>
              <a:t>Deliver a </a:t>
            </a:r>
            <a:r>
              <a:rPr lang="en-US" altLang="en-US" sz="1800" b="1" dirty="0">
                <a:solidFill>
                  <a:schemeClr val="tx1"/>
                </a:solidFill>
                <a:latin typeface="Times New Roman" panose="02020603050405020304" pitchFamily="18" charset="0"/>
                <a:cs typeface="Times New Roman" panose="02020603050405020304" pitchFamily="18" charset="0"/>
              </a:rPr>
              <a:t>cost-effective healthcare solution</a:t>
            </a:r>
            <a:r>
              <a:rPr lang="en-US" altLang="en-US" sz="1800" dirty="0">
                <a:solidFill>
                  <a:schemeClr val="tx1"/>
                </a:solidFill>
                <a:latin typeface="Times New Roman" panose="02020603050405020304" pitchFamily="18" charset="0"/>
                <a:cs typeface="Times New Roman" panose="02020603050405020304" pitchFamily="18" charset="0"/>
              </a:rPr>
              <a:t> accessible even in remote or underserved regions, reducing the dependency on immediate hospital visits.</a:t>
            </a:r>
          </a:p>
          <a:p>
            <a:endParaRPr lang="en-IN" sz="2000" dirty="0">
              <a:solidFill>
                <a:schemeClr val="tx1"/>
              </a:solidFill>
            </a:endParaRPr>
          </a:p>
        </p:txBody>
      </p:sp>
      <p:sp>
        <p:nvSpPr>
          <p:cNvPr id="4" name="Rectangle 1">
            <a:extLst>
              <a:ext uri="{FF2B5EF4-FFF2-40B4-BE49-F238E27FC236}">
                <a16:creationId xmlns:a16="http://schemas.microsoft.com/office/drawing/2014/main" id="{402A7E73-2C83-151D-AA6D-69645A1CA1DA}"/>
              </a:ext>
            </a:extLst>
          </p:cNvPr>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5" name="Rectangle 1">
            <a:extLst>
              <a:ext uri="{FF2B5EF4-FFF2-40B4-BE49-F238E27FC236}">
                <a16:creationId xmlns:a16="http://schemas.microsoft.com/office/drawing/2014/main" id="{DF923196-57A7-3B11-3856-A4EE2A8B7CBC}"/>
              </a:ext>
            </a:extLst>
          </p:cNvPr>
          <p:cNvSpPr>
            <a:spLocks noChangeArrowheads="1"/>
          </p:cNvSpPr>
          <p:nvPr/>
        </p:nvSpPr>
        <p:spPr bwMode="auto">
          <a:xfrm>
            <a:off x="89980" y="2674958"/>
            <a:ext cx="8686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6407869"/>
      </p:ext>
    </p:extLst>
  </p:cSld>
  <p:clrMapOvr>
    <a:masterClrMapping/>
  </p:clrMapOvr>
  <p:transition advTm="4000">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D3843-60E2-66EA-40C7-F53385322E37}"/>
              </a:ext>
            </a:extLst>
          </p:cNvPr>
          <p:cNvSpPr>
            <a:spLocks noGrp="1"/>
          </p:cNvSpPr>
          <p:nvPr>
            <p:ph type="ctrTitle"/>
          </p:nvPr>
        </p:nvSpPr>
        <p:spPr/>
        <p:txBody>
          <a:bodyPr/>
          <a:lstStyle/>
          <a:p>
            <a:r>
              <a:rPr lang="en-IN" dirty="0"/>
              <a:t>Progress</a:t>
            </a:r>
          </a:p>
        </p:txBody>
      </p:sp>
      <p:sp>
        <p:nvSpPr>
          <p:cNvPr id="12" name="TextBox 11"/>
          <p:cNvSpPr txBox="1"/>
          <p:nvPr/>
        </p:nvSpPr>
        <p:spPr>
          <a:xfrm>
            <a:off x="498498" y="4706695"/>
            <a:ext cx="7416824" cy="646331"/>
          </a:xfrm>
          <a:prstGeom prst="rect">
            <a:avLst/>
          </a:prstGeom>
          <a:noFill/>
        </p:spPr>
        <p:txBody>
          <a:bodyPr wrap="square" rtlCol="0">
            <a:spAutoFit/>
          </a:bodyPr>
          <a:lstStyle/>
          <a:p>
            <a:endParaRPr lang="en-IN" dirty="0"/>
          </a:p>
          <a:p>
            <a:pPr algn="ctr"/>
            <a:r>
              <a:rPr lang="en-IN" dirty="0"/>
              <a:t>           </a:t>
            </a:r>
            <a:endParaRPr lang="en-IN" sz="2000" dirty="0"/>
          </a:p>
        </p:txBody>
      </p:sp>
      <p:pic>
        <p:nvPicPr>
          <p:cNvPr id="4" name="Picture 3">
            <a:extLst>
              <a:ext uri="{FF2B5EF4-FFF2-40B4-BE49-F238E27FC236}">
                <a16:creationId xmlns:a16="http://schemas.microsoft.com/office/drawing/2014/main" id="{4299451D-1EC3-7957-E8BE-B757A29197CD}"/>
              </a:ext>
            </a:extLst>
          </p:cNvPr>
          <p:cNvPicPr>
            <a:picLocks noChangeAspect="1"/>
          </p:cNvPicPr>
          <p:nvPr/>
        </p:nvPicPr>
        <p:blipFill>
          <a:blip r:embed="rId3"/>
          <a:stretch>
            <a:fillRect/>
          </a:stretch>
        </p:blipFill>
        <p:spPr>
          <a:xfrm>
            <a:off x="0" y="1089422"/>
            <a:ext cx="9144000" cy="4679156"/>
          </a:xfrm>
          <a:prstGeom prst="rect">
            <a:avLst/>
          </a:prstGeom>
        </p:spPr>
      </p:pic>
    </p:spTree>
    <p:extLst>
      <p:ext uri="{BB962C8B-B14F-4D97-AF65-F5344CB8AC3E}">
        <p14:creationId xmlns:p14="http://schemas.microsoft.com/office/powerpoint/2010/main" val="1582093958"/>
      </p:ext>
    </p:extLst>
  </p:cSld>
  <p:clrMapOvr>
    <a:masterClrMapping/>
  </p:clrMapOvr>
  <p:transition advTm="4000">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D3843-60E2-66EA-40C7-F53385322E37}"/>
              </a:ext>
            </a:extLst>
          </p:cNvPr>
          <p:cNvSpPr>
            <a:spLocks noGrp="1"/>
          </p:cNvSpPr>
          <p:nvPr>
            <p:ph type="ctrTitle"/>
          </p:nvPr>
        </p:nvSpPr>
        <p:spPr/>
        <p:txBody>
          <a:bodyPr/>
          <a:lstStyle/>
          <a:p>
            <a:r>
              <a:rPr lang="en-IN" dirty="0"/>
              <a:t>Progress</a:t>
            </a:r>
          </a:p>
        </p:txBody>
      </p:sp>
      <p:pic>
        <p:nvPicPr>
          <p:cNvPr id="4" name="Picture 3">
            <a:extLst>
              <a:ext uri="{FF2B5EF4-FFF2-40B4-BE49-F238E27FC236}">
                <a16:creationId xmlns:a16="http://schemas.microsoft.com/office/drawing/2014/main" id="{75AF8F9B-224C-07AB-669A-BB5F0DD5FAC5}"/>
              </a:ext>
            </a:extLst>
          </p:cNvPr>
          <p:cNvPicPr>
            <a:picLocks noChangeAspect="1"/>
          </p:cNvPicPr>
          <p:nvPr/>
        </p:nvPicPr>
        <p:blipFill>
          <a:blip r:embed="rId2"/>
          <a:stretch>
            <a:fillRect/>
          </a:stretch>
        </p:blipFill>
        <p:spPr>
          <a:xfrm>
            <a:off x="179512" y="1155616"/>
            <a:ext cx="8964488" cy="4546768"/>
          </a:xfrm>
          <a:prstGeom prst="rect">
            <a:avLst/>
          </a:prstGeom>
        </p:spPr>
      </p:pic>
    </p:spTree>
    <p:extLst>
      <p:ext uri="{BB962C8B-B14F-4D97-AF65-F5344CB8AC3E}">
        <p14:creationId xmlns:p14="http://schemas.microsoft.com/office/powerpoint/2010/main" val="1878058711"/>
      </p:ext>
    </p:extLst>
  </p:cSld>
  <p:clrMapOvr>
    <a:masterClrMapping/>
  </p:clrMapOvr>
  <p:transition advTm="4000">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D3843-60E2-66EA-40C7-F53385322E37}"/>
              </a:ext>
            </a:extLst>
          </p:cNvPr>
          <p:cNvSpPr>
            <a:spLocks noGrp="1"/>
          </p:cNvSpPr>
          <p:nvPr>
            <p:ph type="ctrTitle"/>
          </p:nvPr>
        </p:nvSpPr>
        <p:spPr/>
        <p:txBody>
          <a:bodyPr/>
          <a:lstStyle/>
          <a:p>
            <a:r>
              <a:rPr lang="en-IN" dirty="0"/>
              <a:t>Progress</a:t>
            </a:r>
          </a:p>
        </p:txBody>
      </p:sp>
      <p:pic>
        <p:nvPicPr>
          <p:cNvPr id="4" name="Picture 3">
            <a:extLst>
              <a:ext uri="{FF2B5EF4-FFF2-40B4-BE49-F238E27FC236}">
                <a16:creationId xmlns:a16="http://schemas.microsoft.com/office/drawing/2014/main" id="{FB10A7A4-E66A-1CE9-C578-A32C506E6E56}"/>
              </a:ext>
            </a:extLst>
          </p:cNvPr>
          <p:cNvPicPr>
            <a:picLocks noChangeAspect="1"/>
          </p:cNvPicPr>
          <p:nvPr/>
        </p:nvPicPr>
        <p:blipFill>
          <a:blip r:embed="rId2"/>
          <a:stretch>
            <a:fillRect/>
          </a:stretch>
        </p:blipFill>
        <p:spPr>
          <a:xfrm>
            <a:off x="323528" y="949229"/>
            <a:ext cx="8820472" cy="4959541"/>
          </a:xfrm>
          <a:prstGeom prst="rect">
            <a:avLst/>
          </a:prstGeom>
        </p:spPr>
      </p:pic>
    </p:spTree>
    <p:extLst>
      <p:ext uri="{BB962C8B-B14F-4D97-AF65-F5344CB8AC3E}">
        <p14:creationId xmlns:p14="http://schemas.microsoft.com/office/powerpoint/2010/main" val="3138409978"/>
      </p:ext>
    </p:extLst>
  </p:cSld>
  <p:clrMapOvr>
    <a:masterClrMapping/>
  </p:clrMapOvr>
  <p:transition advTm="4000">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1390054D-025B-E801-B614-07C18BE228A5}"/>
              </a:ext>
            </a:extLst>
          </p:cNvPr>
          <p:cNvPicPr>
            <a:picLocks noChangeAspect="1"/>
          </p:cNvPicPr>
          <p:nvPr/>
        </p:nvPicPr>
        <p:blipFill>
          <a:blip r:embed="rId2"/>
          <a:stretch>
            <a:fillRect/>
          </a:stretch>
        </p:blipFill>
        <p:spPr>
          <a:xfrm>
            <a:off x="395536" y="838200"/>
            <a:ext cx="8748464" cy="5557436"/>
          </a:xfrm>
          <a:prstGeom prst="rect">
            <a:avLst/>
          </a:prstGeom>
        </p:spPr>
      </p:pic>
    </p:spTree>
    <p:extLst>
      <p:ext uri="{BB962C8B-B14F-4D97-AF65-F5344CB8AC3E}">
        <p14:creationId xmlns:p14="http://schemas.microsoft.com/office/powerpoint/2010/main" val="867528548"/>
      </p:ext>
    </p:extLst>
  </p:cSld>
  <p:clrMapOvr>
    <a:masterClrMapping/>
  </p:clrMapOvr>
  <p:transition advTm="4000">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Conclusion</a:t>
            </a:r>
          </a:p>
        </p:txBody>
      </p:sp>
      <p:sp>
        <p:nvSpPr>
          <p:cNvPr id="6" name="Rectangle 1">
            <a:extLst>
              <a:ext uri="{FF2B5EF4-FFF2-40B4-BE49-F238E27FC236}">
                <a16:creationId xmlns:a16="http://schemas.microsoft.com/office/drawing/2014/main" id="{04A95F29-7D74-45C7-9FC1-5FECAE59ECB1}"/>
              </a:ext>
            </a:extLst>
          </p:cNvPr>
          <p:cNvSpPr>
            <a:spLocks noChangeArrowheads="1"/>
          </p:cNvSpPr>
          <p:nvPr/>
        </p:nvSpPr>
        <p:spPr bwMode="auto">
          <a:xfrm>
            <a:off x="53752" y="858779"/>
            <a:ext cx="9036496"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DOCATHOME: AI Doctor Chatbot project showcases how artificial intelligence can enhance healthcare accessibility by providing an intelligent, conversational platform for preliminary medical assistance. Using natural language processing and machine learning, the chatbot can understand user symptoms, offer basic health advice, and suggest whether professional consultation is needed. It serves as a convenient, time-efficient, and affordable solution, especially for remote areas where healthcare access is limited. Although it cannot replace real doctors, DOCATHOME acts as a supportive tool for early symptom assessment, health awareness, and preventive care, paving the way for smarter and more accessible digital healthcare solutions.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advTm="4000">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References/Links used</a:t>
            </a:r>
          </a:p>
        </p:txBody>
      </p:sp>
      <p:sp>
        <p:nvSpPr>
          <p:cNvPr id="3" name="Rectangle 2"/>
          <p:cNvSpPr/>
          <p:nvPr/>
        </p:nvSpPr>
        <p:spPr>
          <a:xfrm>
            <a:off x="395536" y="1196752"/>
            <a:ext cx="8136904" cy="1692771"/>
          </a:xfrm>
          <a:prstGeom prst="rect">
            <a:avLst/>
          </a:prstGeom>
        </p:spPr>
        <p:txBody>
          <a:bodyPr wrap="square">
            <a:spAutoFit/>
          </a:bodyPr>
          <a:lstStyle/>
          <a:p>
            <a:pPr>
              <a:buFont typeface="Arial" pitchFamily="34" charset="0"/>
              <a:buChar char="•"/>
            </a:pPr>
            <a:r>
              <a:rPr lang="en-IN" sz="3200" dirty="0"/>
              <a:t> </a:t>
            </a:r>
            <a:r>
              <a:rPr lang="en-IN" dirty="0"/>
              <a:t>OpenAI API Documentation https://platform.openai.com/docs/ </a:t>
            </a:r>
          </a:p>
          <a:p>
            <a:pPr>
              <a:buFont typeface="Arial" pitchFamily="34" charset="0"/>
              <a:buChar char="•"/>
            </a:pPr>
            <a:r>
              <a:rPr lang="en-IN" dirty="0"/>
              <a:t>Pinecone Vector Database https://www.pinecone.io/docs/overview/ </a:t>
            </a:r>
          </a:p>
          <a:p>
            <a:pPr>
              <a:buFont typeface="Arial" pitchFamily="34" charset="0"/>
              <a:buChar char="•"/>
            </a:pPr>
            <a:r>
              <a:rPr lang="en-IN" dirty="0" err="1"/>
              <a:t>Langchain</a:t>
            </a:r>
            <a:r>
              <a:rPr lang="en-IN" dirty="0"/>
              <a:t> Documentation (Optional, if used) </a:t>
            </a:r>
            <a:r>
              <a:rPr lang="en-IN" dirty="0">
                <a:hlinkClick r:id="rId2"/>
              </a:rPr>
              <a:t>https://docs.langchain.com/</a:t>
            </a:r>
            <a:endParaRPr lang="en-IN" dirty="0"/>
          </a:p>
          <a:p>
            <a:pPr>
              <a:buFont typeface="Arial" pitchFamily="34" charset="0"/>
              <a:buChar char="•"/>
            </a:pPr>
            <a:r>
              <a:rPr lang="en-IN" dirty="0"/>
              <a:t> Docker &amp; Flask Deployment Guide https://docs.docker.com/get-started/overview/ https://flask.palletsprojects.com/en/3.0.x/</a:t>
            </a:r>
            <a:endParaRPr lang="en-US" dirty="0">
              <a:latin typeface="Times New Roman" pitchFamily="18" charset="0"/>
              <a:cs typeface="Times New Roman" pitchFamily="18" charset="0"/>
            </a:endParaRPr>
          </a:p>
        </p:txBody>
      </p:sp>
    </p:spTree>
  </p:cSld>
  <p:clrMapOvr>
    <a:masterClrMapping/>
  </p:clrMapOvr>
  <p:transition advTm="4000">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AutoShape 4"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4" name="Picture 10" descr="Thank you cards Images | Free Vectors, Stock Photos &amp; PSD"/>
          <p:cNvPicPr>
            <a:picLocks noChangeAspect="1" noChangeArrowheads="1"/>
          </p:cNvPicPr>
          <p:nvPr/>
        </p:nvPicPr>
        <p:blipFill>
          <a:blip r:embed="rId2" cstate="print"/>
          <a:srcRect/>
          <a:stretch>
            <a:fillRect/>
          </a:stretch>
        </p:blipFill>
        <p:spPr bwMode="auto">
          <a:xfrm>
            <a:off x="0" y="857232"/>
            <a:ext cx="9144000" cy="5786478"/>
          </a:xfrm>
          <a:prstGeom prst="rect">
            <a:avLst/>
          </a:prstGeom>
          <a:noFill/>
        </p:spPr>
      </p:pic>
    </p:spTree>
  </p:cSld>
  <p:clrMapOvr>
    <a:masterClrMapping/>
  </p:clrMapOvr>
  <p:transition advTm="4000">
    <p:cut/>
  </p:transition>
</p:sld>
</file>

<file path=ppt/theme/theme1.xml><?xml version="1.0" encoding="utf-8"?>
<a:theme xmlns:a="http://schemas.openxmlformats.org/drawingml/2006/main" name="Bubble Sor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706</TotalTime>
  <Words>806</Words>
  <Application>Microsoft Office PowerPoint</Application>
  <PresentationFormat>On-screen Show (4:3)</PresentationFormat>
  <Paragraphs>71</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Arial Black</vt:lpstr>
      <vt:lpstr>Calibri</vt:lpstr>
      <vt:lpstr>Times New Roman</vt:lpstr>
      <vt:lpstr>Bubble Sort</vt:lpstr>
      <vt:lpstr>PowerPoint Presentation</vt:lpstr>
      <vt:lpstr>PowerPoint Presentation</vt:lpstr>
      <vt:lpstr>Introduction</vt:lpstr>
      <vt:lpstr>PowerPoint Presentation</vt:lpstr>
      <vt:lpstr>PowerPoint Presentation</vt:lpstr>
      <vt:lpstr>PowerPoint Presentation</vt:lpstr>
      <vt:lpstr>Objectives</vt:lpstr>
      <vt:lpstr>Progress</vt:lpstr>
      <vt:lpstr>Progress</vt:lpstr>
      <vt:lpstr>Progress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Cricket</dc:title>
  <dc:creator>abc</dc:creator>
  <cp:lastModifiedBy>Prachi Jasuja</cp:lastModifiedBy>
  <cp:revision>50</cp:revision>
  <dcterms:created xsi:type="dcterms:W3CDTF">2022-12-12T14:14:34Z</dcterms:created>
  <dcterms:modified xsi:type="dcterms:W3CDTF">2025-11-03T19:07:56Z</dcterms:modified>
</cp:coreProperties>
</file>